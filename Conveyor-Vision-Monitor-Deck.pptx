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4763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35" y="360015"/>
            <a:ext cx="89799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DRAWING NO.</a:t>
            </a:r>
            <a:endParaRPr lang="en-US" sz="540" dirty="0"/>
          </a:p>
        </p:txBody>
      </p:sp>
      <p:sp>
        <p:nvSpPr>
          <p:cNvPr id="6" name="Text 3"/>
          <p:cNvSpPr/>
          <p:nvPr/>
        </p:nvSpPr>
        <p:spPr>
          <a:xfrm>
            <a:off x="640035" y="492919"/>
            <a:ext cx="89625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720" b="1" spc="29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CVM-DCK-001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134930" y="360015"/>
            <a:ext cx="36903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540" dirty="0"/>
          </a:p>
        </p:txBody>
      </p:sp>
      <p:sp>
        <p:nvSpPr>
          <p:cNvPr id="8" name="Text 5"/>
          <p:cNvSpPr/>
          <p:nvPr/>
        </p:nvSpPr>
        <p:spPr>
          <a:xfrm>
            <a:off x="7684033" y="492919"/>
            <a:ext cx="81993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2026-09-07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5793916" y="1797397"/>
            <a:ext cx="2709863" cy="1490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798679" y="1802160"/>
            <a:ext cx="2700338" cy="148113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98679" y="1802160"/>
            <a:ext cx="2700338" cy="1481137"/>
          </a:xfrm>
          <a:prstGeom prst="rect">
            <a:avLst/>
          </a:prstGeom>
          <a:solidFill>
            <a:srgbClr val="1B3A5B">
              <a:alpha val="45098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889166" y="1892647"/>
            <a:ext cx="2519362" cy="1300163"/>
          </a:xfrm>
          <a:prstGeom prst="rect">
            <a:avLst/>
          </a:prstGeom>
          <a:ln w="4763">
            <a:solidFill>
              <a:srgbClr val="FFFFFF">
                <a:alpha val="34902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99026" y="3089821"/>
            <a:ext cx="108692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22" kern="0" dirty="0">
                <a:solidFill>
                  <a:srgbClr val="C8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CAPTURE / 01</a:t>
            </a:r>
            <a:endParaRPr lang="en-US" sz="540" dirty="0"/>
          </a:p>
        </p:txBody>
      </p:sp>
      <p:sp>
        <p:nvSpPr>
          <p:cNvPr id="14" name="Text 10"/>
          <p:cNvSpPr/>
          <p:nvPr/>
        </p:nvSpPr>
        <p:spPr>
          <a:xfrm>
            <a:off x="7738542" y="3089821"/>
            <a:ext cx="915315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2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INSPECTION LINE</a:t>
            </a:r>
            <a:endParaRPr lang="en-US" sz="540" dirty="0"/>
          </a:p>
        </p:txBody>
      </p:sp>
      <p:sp>
        <p:nvSpPr>
          <p:cNvPr id="15" name="Shape 11"/>
          <p:cNvSpPr/>
          <p:nvPr/>
        </p:nvSpPr>
        <p:spPr>
          <a:xfrm>
            <a:off x="640556" y="4464658"/>
            <a:ext cx="7862887" cy="319088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640035" y="4546848"/>
            <a:ext cx="89113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</a:t>
            </a:r>
            <a:endParaRPr lang="en-US" sz="540" dirty="0"/>
          </a:p>
        </p:txBody>
      </p:sp>
      <p:sp>
        <p:nvSpPr>
          <p:cNvPr id="17" name="Text 13"/>
          <p:cNvSpPr/>
          <p:nvPr/>
        </p:nvSpPr>
        <p:spPr>
          <a:xfrm>
            <a:off x="640035" y="4669482"/>
            <a:ext cx="163582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650" spc="2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Conveyor Vision Monitor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4633689" y="4546848"/>
            <a:ext cx="108238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540" dirty="0"/>
          </a:p>
        </p:txBody>
      </p:sp>
      <p:sp>
        <p:nvSpPr>
          <p:cNvPr id="19" name="Text 15"/>
          <p:cNvSpPr/>
          <p:nvPr/>
        </p:nvSpPr>
        <p:spPr>
          <a:xfrm>
            <a:off x="4633689" y="4669482"/>
            <a:ext cx="101814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650" spc="2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BRIEF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8201620" y="4546848"/>
            <a:ext cx="45010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540" dirty="0"/>
          </a:p>
        </p:txBody>
      </p:sp>
      <p:sp>
        <p:nvSpPr>
          <p:cNvPr id="21" name="Text 17"/>
          <p:cNvSpPr/>
          <p:nvPr/>
        </p:nvSpPr>
        <p:spPr>
          <a:xfrm>
            <a:off x="8201620" y="4669482"/>
            <a:ext cx="26310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650" spc="2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</a:t>
            </a:r>
            <a:endParaRPr lang="en-US" sz="6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8691" y="3035015"/>
            <a:ext cx="2500313" cy="147637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556" y="4464658"/>
            <a:ext cx="7862887" cy="3190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35" y="1691208"/>
            <a:ext cx="101263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TITLE</a:t>
            </a:r>
            <a:endParaRPr lang="en-US" sz="540" dirty="0"/>
          </a:p>
        </p:txBody>
      </p:sp>
      <p:sp>
        <p:nvSpPr>
          <p:cNvPr id="25" name="Text 19"/>
          <p:cNvSpPr/>
          <p:nvPr/>
        </p:nvSpPr>
        <p:spPr>
          <a:xfrm>
            <a:off x="640035" y="1774403"/>
            <a:ext cx="3878022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90" spc="17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CONVEYOR</a:t>
            </a:r>
            <a:endParaRPr lang="en-US" sz="3890" dirty="0"/>
          </a:p>
        </p:txBody>
      </p:sp>
      <p:sp>
        <p:nvSpPr>
          <p:cNvPr id="26" name="Text 20"/>
          <p:cNvSpPr/>
          <p:nvPr/>
        </p:nvSpPr>
        <p:spPr>
          <a:xfrm>
            <a:off x="640035" y="2218804"/>
            <a:ext cx="5841519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90" spc="17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MONITOR</a:t>
            </a:r>
            <a:endParaRPr lang="en-US" sz="3890" dirty="0"/>
          </a:p>
        </p:txBody>
      </p:sp>
      <p:sp>
        <p:nvSpPr>
          <p:cNvPr id="27" name="Shape 21"/>
          <p:cNvSpPr/>
          <p:nvPr/>
        </p:nvSpPr>
        <p:spPr>
          <a:xfrm>
            <a:off x="639552" y="2852514"/>
            <a:ext cx="823913" cy="4763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40035" y="2958554"/>
            <a:ext cx="373533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900" dirty="0">
                <a:solidFill>
                  <a:srgbClr val="AFB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video intelligence for conveyor operations.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35" y="3280395"/>
            <a:ext cx="46906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26" kern="0" dirty="0">
                <a:solidFill>
                  <a:srgbClr val="BB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1139726" y="3280395"/>
            <a:ext cx="239086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26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PRODUCTION-STYLE PROTOTYPE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4763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35" y="360015"/>
            <a:ext cx="219129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 / OPERATOR CONTEXT</a:t>
            </a:r>
            <a:endParaRPr lang="en-US" sz="540" dirty="0"/>
          </a:p>
        </p:txBody>
      </p:sp>
      <p:sp>
        <p:nvSpPr>
          <p:cNvPr id="6" name="Text 3"/>
          <p:cNvSpPr/>
          <p:nvPr/>
        </p:nvSpPr>
        <p:spPr>
          <a:xfrm>
            <a:off x="640035" y="492919"/>
            <a:ext cx="89625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CVM-OPS-001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132415" y="360015"/>
            <a:ext cx="37154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</a:t>
            </a:r>
            <a:endParaRPr lang="en-US" sz="540" dirty="0"/>
          </a:p>
        </p:txBody>
      </p:sp>
      <p:sp>
        <p:nvSpPr>
          <p:cNvPr id="8" name="Text 5"/>
          <p:cNvSpPr/>
          <p:nvPr/>
        </p:nvSpPr>
        <p:spPr>
          <a:xfrm>
            <a:off x="7912819" y="492919"/>
            <a:ext cx="59114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05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640035" y="1083394"/>
            <a:ext cx="115377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BRIEF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640035" y="1195164"/>
            <a:ext cx="5675903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spc="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OPERATING NEED</a:t>
            </a:r>
            <a:endParaRPr lang="en-US" sz="3020" dirty="0"/>
          </a:p>
        </p:txBody>
      </p:sp>
      <p:sp>
        <p:nvSpPr>
          <p:cNvPr id="11" name="Shape 8"/>
          <p:cNvSpPr/>
          <p:nvPr/>
        </p:nvSpPr>
        <p:spPr>
          <a:xfrm>
            <a:off x="639068" y="1724546"/>
            <a:ext cx="733425" cy="4763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39105" y="2036973"/>
            <a:ext cx="3705225" cy="733425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640035" y="2028379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43347" y="2041990"/>
            <a:ext cx="4066565" cy="6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Conveyor teams need a single view of</a:t>
            </a:r>
            <a:endParaRPr lang="en-US" sz="1330" dirty="0"/>
          </a:p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flow, line crossings, and system</a:t>
            </a:r>
            <a:endParaRPr lang="en-US" sz="1330" dirty="0"/>
          </a:p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4799670" y="2036973"/>
            <a:ext cx="3705225" cy="733425"/>
          </a:xfrm>
          <a:prstGeom prst="rect">
            <a:avLst/>
          </a:prstGeom>
          <a:ln/>
        </p:spPr>
      </p:sp>
      <p:sp>
        <p:nvSpPr>
          <p:cNvPr id="16" name="Text 13"/>
          <p:cNvSpPr/>
          <p:nvPr/>
        </p:nvSpPr>
        <p:spPr>
          <a:xfrm>
            <a:off x="4800600" y="2028379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03912" y="2041990"/>
            <a:ext cx="4200354" cy="4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counts are difficult to audit from</a:t>
            </a:r>
            <a:endParaRPr lang="en-US" sz="1330" dirty="0"/>
          </a:p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1330" dirty="0"/>
          </a:p>
        </p:txBody>
      </p:sp>
      <p:sp>
        <p:nvSpPr>
          <p:cNvPr id="18" name="Shape 15"/>
          <p:cNvSpPr/>
          <p:nvPr/>
        </p:nvSpPr>
        <p:spPr>
          <a:xfrm>
            <a:off x="639105" y="2924249"/>
            <a:ext cx="3705225" cy="519112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640035" y="2914204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3347" y="2927815"/>
            <a:ext cx="4261105" cy="4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Camera, model, processor, and backend</a:t>
            </a:r>
            <a:endParaRPr lang="en-US" sz="1330" dirty="0"/>
          </a:p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must be visible to operators</a:t>
            </a:r>
            <a:endParaRPr lang="en-US" sz="1330" dirty="0"/>
          </a:p>
        </p:txBody>
      </p:sp>
      <p:sp>
        <p:nvSpPr>
          <p:cNvPr id="21" name="Text 18"/>
          <p:cNvSpPr/>
          <p:nvPr/>
        </p:nvSpPr>
        <p:spPr>
          <a:xfrm>
            <a:off x="4800600" y="2914204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03912" y="2927815"/>
            <a:ext cx="4398184" cy="4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must distinguish measured output</a:t>
            </a:r>
            <a:endParaRPr lang="en-US" sz="1330" dirty="0"/>
          </a:p>
          <a:p>
            <a:pPr algn="l" indent="0" marL="0">
              <a:lnSpc>
                <a:spcPts val="1665"/>
              </a:lnSpc>
              <a:buNone/>
            </a:pPr>
            <a:r>
              <a:rPr lang="en-US" sz="133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unavailable or unverified signals</a:t>
            </a:r>
            <a:endParaRPr lang="en-US" sz="1330" dirty="0"/>
          </a:p>
        </p:txBody>
      </p:sp>
      <p:sp>
        <p:nvSpPr>
          <p:cNvPr id="23" name="Shape 20"/>
          <p:cNvSpPr/>
          <p:nvPr/>
        </p:nvSpPr>
        <p:spPr>
          <a:xfrm>
            <a:off x="640556" y="4584278"/>
            <a:ext cx="7862887" cy="200025"/>
          </a:xfrm>
          <a:prstGeom prst="rect">
            <a:avLst/>
          </a:prstGeom>
          <a:ln/>
        </p:spPr>
      </p:sp>
      <p:sp>
        <p:nvSpPr>
          <p:cNvPr id="24" name="Text 21"/>
          <p:cNvSpPr/>
          <p:nvPr/>
        </p:nvSpPr>
        <p:spPr>
          <a:xfrm>
            <a:off x="640035" y="4676477"/>
            <a:ext cx="239163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98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CONVEYOR VISION MONITOR / OPERATIONS</a:t>
            </a:r>
            <a:endParaRPr lang="en-US" sz="610" dirty="0"/>
          </a:p>
        </p:txBody>
      </p:sp>
      <p:sp>
        <p:nvSpPr>
          <p:cNvPr id="25" name="Text 22"/>
          <p:cNvSpPr/>
          <p:nvPr/>
        </p:nvSpPr>
        <p:spPr>
          <a:xfrm>
            <a:off x="7207002" y="4676477"/>
            <a:ext cx="1743202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INTEGRITY: EXPLICIT</a:t>
            </a:r>
            <a:endParaRPr lang="en-US" sz="61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105" y="2036973"/>
            <a:ext cx="3705225" cy="733425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9670" y="2036973"/>
            <a:ext cx="3705225" cy="733425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105" y="2924249"/>
            <a:ext cx="3705225" cy="519112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556" y="4584278"/>
            <a:ext cx="7862887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4763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35" y="360015"/>
            <a:ext cx="188734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/ ARCHITECTURE</a:t>
            </a:r>
            <a:endParaRPr lang="en-US" sz="540" dirty="0"/>
          </a:p>
        </p:txBody>
      </p:sp>
      <p:sp>
        <p:nvSpPr>
          <p:cNvPr id="6" name="Text 3"/>
          <p:cNvSpPr/>
          <p:nvPr/>
        </p:nvSpPr>
        <p:spPr>
          <a:xfrm>
            <a:off x="640035" y="492919"/>
            <a:ext cx="89625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CVM-SYS-002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132415" y="360015"/>
            <a:ext cx="37154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</a:t>
            </a:r>
            <a:endParaRPr lang="en-US" sz="540" dirty="0"/>
          </a:p>
        </p:txBody>
      </p:sp>
      <p:sp>
        <p:nvSpPr>
          <p:cNvPr id="8" name="Text 5"/>
          <p:cNvSpPr/>
          <p:nvPr/>
        </p:nvSpPr>
        <p:spPr>
          <a:xfrm>
            <a:off x="7912819" y="492919"/>
            <a:ext cx="59114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05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640035" y="929134"/>
            <a:ext cx="108102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LAYOUT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640035" y="1040904"/>
            <a:ext cx="5039462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50" spc="5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BLUEPRINT</a:t>
            </a:r>
            <a:endParaRPr lang="en-US" sz="2950" dirty="0"/>
          </a:p>
        </p:txBody>
      </p:sp>
      <p:sp>
        <p:nvSpPr>
          <p:cNvPr id="11" name="Shape 8"/>
          <p:cNvSpPr/>
          <p:nvPr/>
        </p:nvSpPr>
        <p:spPr>
          <a:xfrm>
            <a:off x="7264933" y="1239515"/>
            <a:ext cx="1238250" cy="209550"/>
          </a:xfrm>
          <a:prstGeom prst="rect">
            <a:avLst/>
          </a:prstGeom>
          <a:ln w="4763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295" y="1295549"/>
            <a:ext cx="141893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MODULAR / REPLACEABLE</a:t>
            </a:r>
            <a:endParaRPr lang="en-US" sz="610" dirty="0"/>
          </a:p>
        </p:txBody>
      </p:sp>
      <p:sp>
        <p:nvSpPr>
          <p:cNvPr id="13" name="Shape 10"/>
          <p:cNvSpPr/>
          <p:nvPr/>
        </p:nvSpPr>
        <p:spPr>
          <a:xfrm>
            <a:off x="640370" y="1705570"/>
            <a:ext cx="3357563" cy="1543050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74" y="1865709"/>
            <a:ext cx="129714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5A4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SURFACE</a:t>
            </a:r>
            <a:endParaRPr lang="en-US" sz="540" dirty="0"/>
          </a:p>
        </p:txBody>
      </p:sp>
      <p:sp>
        <p:nvSpPr>
          <p:cNvPr id="15" name="Text 12"/>
          <p:cNvSpPr/>
          <p:nvPr/>
        </p:nvSpPr>
        <p:spPr>
          <a:xfrm>
            <a:off x="800174" y="1995413"/>
            <a:ext cx="358461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62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TypeScript control-room</a:t>
            </a:r>
            <a:endParaRPr lang="en-US" sz="1620" dirty="0"/>
          </a:p>
        </p:txBody>
      </p:sp>
      <p:sp>
        <p:nvSpPr>
          <p:cNvPr id="16" name="Text 13"/>
          <p:cNvSpPr/>
          <p:nvPr/>
        </p:nvSpPr>
        <p:spPr>
          <a:xfrm>
            <a:off x="1361703" y="2221706"/>
            <a:ext cx="14239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62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800174" y="2981474"/>
            <a:ext cx="245645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A7B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/ LIVE / ANALYTICS / ALERTS</a:t>
            </a:r>
            <a:endParaRPr lang="en-US" sz="610" dirty="0"/>
          </a:p>
        </p:txBody>
      </p:sp>
      <p:sp>
        <p:nvSpPr>
          <p:cNvPr id="18" name="Shape 15"/>
          <p:cNvSpPr/>
          <p:nvPr/>
        </p:nvSpPr>
        <p:spPr>
          <a:xfrm>
            <a:off x="4136194" y="2366070"/>
            <a:ext cx="871538" cy="4763"/>
          </a:xfrm>
          <a:prstGeom prst="rect">
            <a:avLst/>
          </a:prstGeom>
          <a:solidFill>
            <a:srgbClr val="F5B942">
              <a:alpha val="7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478015" y="2431777"/>
            <a:ext cx="30141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spc="23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endParaRPr lang="en-US" sz="580" dirty="0"/>
          </a:p>
        </p:txBody>
      </p:sp>
      <p:sp>
        <p:nvSpPr>
          <p:cNvPr id="20" name="Shape 17"/>
          <p:cNvSpPr/>
          <p:nvPr/>
        </p:nvSpPr>
        <p:spPr>
          <a:xfrm>
            <a:off x="4136194" y="2583359"/>
            <a:ext cx="871538" cy="4763"/>
          </a:xfrm>
          <a:prstGeom prst="rect">
            <a:avLst/>
          </a:prstGeom>
          <a:solidFill>
            <a:srgbClr val="F5B942">
              <a:alpha val="7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146030" y="1705570"/>
            <a:ext cx="3357563" cy="1543050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5797" y="1865709"/>
            <a:ext cx="144263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5A4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SURFACE</a:t>
            </a:r>
            <a:endParaRPr lang="en-US" sz="540" dirty="0"/>
          </a:p>
        </p:txBody>
      </p:sp>
      <p:sp>
        <p:nvSpPr>
          <p:cNvPr id="23" name="Text 20"/>
          <p:cNvSpPr/>
          <p:nvPr/>
        </p:nvSpPr>
        <p:spPr>
          <a:xfrm>
            <a:off x="5305797" y="1995413"/>
            <a:ext cx="374810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62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+ OpenCV worker for</a:t>
            </a:r>
            <a:endParaRPr lang="en-US" sz="1620" dirty="0"/>
          </a:p>
        </p:txBody>
      </p:sp>
      <p:sp>
        <p:nvSpPr>
          <p:cNvPr id="24" name="Text 21"/>
          <p:cNvSpPr/>
          <p:nvPr/>
        </p:nvSpPr>
        <p:spPr>
          <a:xfrm>
            <a:off x="5305797" y="2221706"/>
            <a:ext cx="22968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62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processing</a:t>
            </a:r>
            <a:endParaRPr lang="en-US" sz="1620" dirty="0"/>
          </a:p>
        </p:txBody>
      </p:sp>
      <p:sp>
        <p:nvSpPr>
          <p:cNvPr id="25" name="Text 22"/>
          <p:cNvSpPr/>
          <p:nvPr/>
        </p:nvSpPr>
        <p:spPr>
          <a:xfrm>
            <a:off x="5305797" y="2981474"/>
            <a:ext cx="213228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A7B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 / JOBS / TRACKS / COUNTS</a:t>
            </a:r>
            <a:endParaRPr lang="en-US" sz="610" dirty="0"/>
          </a:p>
        </p:txBody>
      </p:sp>
      <p:sp>
        <p:nvSpPr>
          <p:cNvPr id="26" name="Shape 23"/>
          <p:cNvSpPr/>
          <p:nvPr/>
        </p:nvSpPr>
        <p:spPr>
          <a:xfrm>
            <a:off x="640519" y="3454859"/>
            <a:ext cx="2528888" cy="881063"/>
          </a:xfrm>
          <a:prstGeom prst="rect">
            <a:avLst/>
          </a:prstGeom>
          <a:ln w="4763">
            <a:solidFill>
              <a:srgbClr val="FFFFFF">
                <a:alpha val="35000"/>
              </a:srgbClr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759098" y="3573363"/>
            <a:ext cx="72454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540" dirty="0"/>
          </a:p>
        </p:txBody>
      </p:sp>
      <p:sp>
        <p:nvSpPr>
          <p:cNvPr id="28" name="Text 25"/>
          <p:cNvSpPr/>
          <p:nvPr/>
        </p:nvSpPr>
        <p:spPr>
          <a:xfrm>
            <a:off x="759098" y="3702323"/>
            <a:ext cx="23511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REST contract from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759098" y="3872433"/>
            <a:ext cx="8211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OpenAPI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3307519" y="3454859"/>
            <a:ext cx="2528888" cy="881063"/>
          </a:xfrm>
          <a:prstGeom prst="rect">
            <a:avLst/>
          </a:prstGeom>
          <a:ln w="4763">
            <a:solidFill>
              <a:srgbClr val="FFFFFF">
                <a:alpha val="35000"/>
              </a:srgbClr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3426098" y="3573363"/>
            <a:ext cx="89500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</a:t>
            </a:r>
            <a:endParaRPr lang="en-US" sz="540" dirty="0"/>
          </a:p>
        </p:txBody>
      </p:sp>
      <p:sp>
        <p:nvSpPr>
          <p:cNvPr id="32" name="Text 29"/>
          <p:cNvSpPr/>
          <p:nvPr/>
        </p:nvSpPr>
        <p:spPr>
          <a:xfrm>
            <a:off x="3426098" y="3702323"/>
            <a:ext cx="2443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JSON persistence for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3426098" y="3872433"/>
            <a:ext cx="26814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sessions, detections, settings,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3426098" y="4042544"/>
            <a:ext cx="21462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alerts, and performance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5974519" y="3454859"/>
            <a:ext cx="2528888" cy="881063"/>
          </a:xfrm>
          <a:prstGeom prst="rect">
            <a:avLst/>
          </a:prstGeom>
          <a:ln w="4763">
            <a:solidFill>
              <a:srgbClr val="FFFFFF">
                <a:alpha val="35000"/>
              </a:srgbClr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6093098" y="3573363"/>
            <a:ext cx="118211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POINT</a:t>
            </a:r>
            <a:endParaRPr lang="en-US" sz="540" dirty="0"/>
          </a:p>
        </p:txBody>
      </p:sp>
      <p:sp>
        <p:nvSpPr>
          <p:cNvPr id="37" name="Text 34"/>
          <p:cNvSpPr/>
          <p:nvPr/>
        </p:nvSpPr>
        <p:spPr>
          <a:xfrm>
            <a:off x="6093098" y="3702323"/>
            <a:ext cx="2727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Detector boundary is ready for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6093098" y="3872433"/>
            <a:ext cx="27556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YOLO or edge-inference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6093098" y="4042544"/>
            <a:ext cx="11420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dirty="0">
                <a:solidFill>
                  <a:srgbClr val="DDE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replacement</a:t>
            </a:r>
            <a:endParaRPr lang="en-US" sz="1120" dirty="0"/>
          </a:p>
        </p:txBody>
      </p:sp>
      <p:sp>
        <p:nvSpPr>
          <p:cNvPr id="40" name="Shape 37"/>
          <p:cNvSpPr/>
          <p:nvPr/>
        </p:nvSpPr>
        <p:spPr>
          <a:xfrm>
            <a:off x="640556" y="4584278"/>
            <a:ext cx="7862887" cy="200025"/>
          </a:xfrm>
          <a:prstGeom prst="rect">
            <a:avLst/>
          </a:prstGeom>
          <a:ln/>
        </p:spPr>
      </p:sp>
      <p:sp>
        <p:nvSpPr>
          <p:cNvPr id="41" name="Text 38"/>
          <p:cNvSpPr/>
          <p:nvPr/>
        </p:nvSpPr>
        <p:spPr>
          <a:xfrm>
            <a:off x="640035" y="4676477"/>
            <a:ext cx="1743202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98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CVM / ARCHITECTURE DRAWING</a:t>
            </a:r>
            <a:endParaRPr lang="en-US" sz="610" dirty="0"/>
          </a:p>
        </p:txBody>
      </p:sp>
      <p:sp>
        <p:nvSpPr>
          <p:cNvPr id="42" name="Text 39"/>
          <p:cNvSpPr/>
          <p:nvPr/>
        </p:nvSpPr>
        <p:spPr>
          <a:xfrm>
            <a:off x="7655942" y="4676477"/>
            <a:ext cx="115957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REVISION: WORKING</a:t>
            </a:r>
            <a:endParaRPr lang="en-US" sz="61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56" y="4584278"/>
            <a:ext cx="7862887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4763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35" y="360015"/>
            <a:ext cx="198040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 / VISION PIPELINE</a:t>
            </a:r>
            <a:endParaRPr lang="en-US" sz="540" dirty="0"/>
          </a:p>
        </p:txBody>
      </p:sp>
      <p:sp>
        <p:nvSpPr>
          <p:cNvPr id="6" name="Text 3"/>
          <p:cNvSpPr/>
          <p:nvPr/>
        </p:nvSpPr>
        <p:spPr>
          <a:xfrm>
            <a:off x="640035" y="492919"/>
            <a:ext cx="89625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CVM-VSN-003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132415" y="360015"/>
            <a:ext cx="37154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</a:t>
            </a:r>
            <a:endParaRPr lang="en-US" sz="540" dirty="0"/>
          </a:p>
        </p:txBody>
      </p:sp>
      <p:sp>
        <p:nvSpPr>
          <p:cNvPr id="8" name="Text 5"/>
          <p:cNvSpPr/>
          <p:nvPr/>
        </p:nvSpPr>
        <p:spPr>
          <a:xfrm>
            <a:off x="7912819" y="492919"/>
            <a:ext cx="59114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05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640035" y="929134"/>
            <a:ext cx="154614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SEQUENCE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640035" y="1040904"/>
            <a:ext cx="6829410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50" spc="5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FRAMES TO COUNTS</a:t>
            </a:r>
            <a:endParaRPr lang="en-US" sz="2950" dirty="0"/>
          </a:p>
        </p:txBody>
      </p:sp>
      <p:sp>
        <p:nvSpPr>
          <p:cNvPr id="11" name="Shape 8"/>
          <p:cNvSpPr/>
          <p:nvPr/>
        </p:nvSpPr>
        <p:spPr>
          <a:xfrm>
            <a:off x="639068" y="1561505"/>
            <a:ext cx="733425" cy="4763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40519" y="1822252"/>
            <a:ext cx="2528888" cy="115252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790" y="1970484"/>
            <a:ext cx="8963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3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INPUT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772790" y="2205186"/>
            <a:ext cx="27328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Decode uploaded video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772790" y="2415480"/>
            <a:ext cx="183578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asynchronously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3307519" y="1822252"/>
            <a:ext cx="2528888" cy="115252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9790" y="1970484"/>
            <a:ext cx="98022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3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SIGNAL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3439790" y="2205186"/>
            <a:ext cx="25878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moving regions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3439790" y="2415480"/>
            <a:ext cx="27979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OpenCV motion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3439790" y="2625775"/>
            <a:ext cx="93756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</a:t>
            </a:r>
            <a:endParaRPr lang="en-US" sz="1440" dirty="0"/>
          </a:p>
        </p:txBody>
      </p:sp>
      <p:sp>
        <p:nvSpPr>
          <p:cNvPr id="21" name="Shape 18"/>
          <p:cNvSpPr/>
          <p:nvPr/>
        </p:nvSpPr>
        <p:spPr>
          <a:xfrm>
            <a:off x="5974519" y="1822252"/>
            <a:ext cx="2528888" cy="115252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6790" y="1970484"/>
            <a:ext cx="114806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3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IDENTITY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6106790" y="2205186"/>
            <a:ext cx="26621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stable centroid-based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6689601" y="2415480"/>
            <a:ext cx="139562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IDs</a:t>
            </a:r>
            <a:endParaRPr lang="en-US" sz="1440" dirty="0"/>
          </a:p>
        </p:txBody>
      </p:sp>
      <p:sp>
        <p:nvSpPr>
          <p:cNvPr id="25" name="Shape 22"/>
          <p:cNvSpPr/>
          <p:nvPr/>
        </p:nvSpPr>
        <p:spPr>
          <a:xfrm>
            <a:off x="640519" y="3127028"/>
            <a:ext cx="2528888" cy="136207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2790" y="3274888"/>
            <a:ext cx="114806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3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GEOMETRY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772790" y="3509590"/>
            <a:ext cx="296616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track movement</a:t>
            </a: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772790" y="3719885"/>
            <a:ext cx="297052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 configurable virtual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772790" y="3930179"/>
            <a:ext cx="45135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1440" dirty="0"/>
          </a:p>
        </p:txBody>
      </p:sp>
      <p:sp>
        <p:nvSpPr>
          <p:cNvPr id="30" name="Shape 27"/>
          <p:cNvSpPr/>
          <p:nvPr/>
        </p:nvSpPr>
        <p:spPr>
          <a:xfrm>
            <a:off x="3307519" y="3127028"/>
            <a:ext cx="2528888" cy="136207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39790" y="3274888"/>
            <a:ext cx="8963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3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COUNT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439790" y="3509590"/>
            <a:ext cx="197121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directional</a:t>
            </a:r>
            <a:endParaRPr lang="en-US" sz="1440" dirty="0"/>
          </a:p>
        </p:txBody>
      </p:sp>
      <p:sp>
        <p:nvSpPr>
          <p:cNvPr id="33" name="Text 30"/>
          <p:cNvSpPr/>
          <p:nvPr/>
        </p:nvSpPr>
        <p:spPr>
          <a:xfrm>
            <a:off x="3439790" y="3719885"/>
            <a:ext cx="22058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crossings once per</a:t>
            </a:r>
            <a:endParaRPr lang="en-US" sz="1440" dirty="0"/>
          </a:p>
        </p:txBody>
      </p:sp>
      <p:sp>
        <p:nvSpPr>
          <p:cNvPr id="34" name="Text 31"/>
          <p:cNvSpPr/>
          <p:nvPr/>
        </p:nvSpPr>
        <p:spPr>
          <a:xfrm>
            <a:off x="3439790" y="3930179"/>
            <a:ext cx="127015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ID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5974519" y="3127028"/>
            <a:ext cx="2528888" cy="136207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06790" y="3274888"/>
            <a:ext cx="98022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32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RECORD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6106790" y="3509590"/>
            <a:ext cx="185087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frame,</a:t>
            </a:r>
            <a:endParaRPr lang="en-US" sz="1440" dirty="0"/>
          </a:p>
        </p:txBody>
      </p:sp>
      <p:sp>
        <p:nvSpPr>
          <p:cNvPr id="38" name="Text 35"/>
          <p:cNvSpPr/>
          <p:nvPr/>
        </p:nvSpPr>
        <p:spPr>
          <a:xfrm>
            <a:off x="6106790" y="3719885"/>
            <a:ext cx="26978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timestamp, confidence,</a:t>
            </a:r>
            <a:endParaRPr lang="en-US" sz="1440" dirty="0"/>
          </a:p>
        </p:txBody>
      </p:sp>
      <p:sp>
        <p:nvSpPr>
          <p:cNvPr id="39" name="Text 36"/>
          <p:cNvSpPr/>
          <p:nvPr/>
        </p:nvSpPr>
        <p:spPr>
          <a:xfrm>
            <a:off x="6106790" y="3930179"/>
            <a:ext cx="26573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box, track ID,</a:t>
            </a:r>
            <a:endParaRPr lang="en-US" sz="1440" dirty="0"/>
          </a:p>
        </p:txBody>
      </p:sp>
      <p:sp>
        <p:nvSpPr>
          <p:cNvPr id="40" name="Text 37"/>
          <p:cNvSpPr/>
          <p:nvPr/>
        </p:nvSpPr>
        <p:spPr>
          <a:xfrm>
            <a:off x="6106790" y="4140473"/>
            <a:ext cx="20810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counted state</a:t>
            </a:r>
            <a:endParaRPr lang="en-US" sz="1440" dirty="0"/>
          </a:p>
        </p:txBody>
      </p:sp>
      <p:sp>
        <p:nvSpPr>
          <p:cNvPr id="41" name="Shape 38"/>
          <p:cNvSpPr/>
          <p:nvPr/>
        </p:nvSpPr>
        <p:spPr>
          <a:xfrm>
            <a:off x="640556" y="4584278"/>
            <a:ext cx="7862887" cy="200025"/>
          </a:xfrm>
          <a:prstGeom prst="rect">
            <a:avLst/>
          </a:prstGeom>
          <a:ln/>
        </p:spPr>
      </p:sp>
      <p:sp>
        <p:nvSpPr>
          <p:cNvPr id="42" name="Text 39"/>
          <p:cNvSpPr/>
          <p:nvPr/>
        </p:nvSpPr>
        <p:spPr>
          <a:xfrm>
            <a:off x="640035" y="4676477"/>
            <a:ext cx="1937742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98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 → TRACK → LINE → COUNT</a:t>
            </a:r>
            <a:endParaRPr lang="en-US" sz="610" dirty="0"/>
          </a:p>
        </p:txBody>
      </p:sp>
      <p:sp>
        <p:nvSpPr>
          <p:cNvPr id="43" name="Text 40"/>
          <p:cNvSpPr/>
          <p:nvPr/>
        </p:nvSpPr>
        <p:spPr>
          <a:xfrm>
            <a:off x="7606085" y="4676477"/>
            <a:ext cx="122439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PRESERVED</a:t>
            </a:r>
            <a:endParaRPr lang="en-US" sz="61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56" y="4584278"/>
            <a:ext cx="7862887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4763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35" y="360015"/>
            <a:ext cx="163708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 / READINESS</a:t>
            </a:r>
            <a:endParaRPr lang="en-US" sz="540" dirty="0"/>
          </a:p>
        </p:txBody>
      </p:sp>
      <p:sp>
        <p:nvSpPr>
          <p:cNvPr id="6" name="Text 3"/>
          <p:cNvSpPr/>
          <p:nvPr/>
        </p:nvSpPr>
        <p:spPr>
          <a:xfrm>
            <a:off x="640035" y="492919"/>
            <a:ext cx="89625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CVM-NXT-004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132415" y="360015"/>
            <a:ext cx="37154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</a:t>
            </a:r>
            <a:endParaRPr lang="en-US" sz="540" dirty="0"/>
          </a:p>
        </p:txBody>
      </p:sp>
      <p:sp>
        <p:nvSpPr>
          <p:cNvPr id="8" name="Text 5"/>
          <p:cNvSpPr/>
          <p:nvPr/>
        </p:nvSpPr>
        <p:spPr>
          <a:xfrm>
            <a:off x="7912819" y="492919"/>
            <a:ext cx="59114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324"/>
              </a:spcBef>
              <a:buNone/>
            </a:pPr>
            <a:r>
              <a:rPr lang="en-US" sz="720" spc="29" kern="0" dirty="0">
                <a:solidFill>
                  <a:srgbClr val="D1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05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640035" y="1031974"/>
            <a:ext cx="161270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READINESS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640035" y="1143744"/>
            <a:ext cx="7258444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spc="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THE NEXT SHIFT</a:t>
            </a:r>
            <a:endParaRPr lang="en-US" sz="3020" dirty="0"/>
          </a:p>
        </p:txBody>
      </p:sp>
      <p:sp>
        <p:nvSpPr>
          <p:cNvPr id="11" name="Shape 8"/>
          <p:cNvSpPr/>
          <p:nvPr/>
        </p:nvSpPr>
        <p:spPr>
          <a:xfrm>
            <a:off x="639068" y="1673126"/>
            <a:ext cx="733425" cy="4763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40705" y="1935175"/>
            <a:ext cx="4310062" cy="714375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640035" y="1925538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43347" y="1939826"/>
            <a:ext cx="494978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Dashboard, live monitor, analysis jobs, analytics,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43347" y="2145581"/>
            <a:ext cx="466885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performance, alerts, settings, and exports are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43347" y="2351336"/>
            <a:ext cx="136582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705" y="2762399"/>
            <a:ext cx="4310062" cy="509587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640035" y="2753246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3347" y="2767533"/>
            <a:ext cx="48642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→ analysis job → completed results flow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3347" y="2973288"/>
            <a:ext cx="195960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end to end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35" y="3375199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43347" y="3389486"/>
            <a:ext cx="504681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 weights and semantic classification are not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43347" y="3595241"/>
            <a:ext cx="12503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bundled yet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17517" y="1935659"/>
            <a:ext cx="3186113" cy="919162"/>
          </a:xfrm>
          <a:prstGeom prst="rect">
            <a:avLst/>
          </a:prstGeom>
          <a:ln/>
        </p:spPr>
      </p:sp>
      <p:sp>
        <p:nvSpPr>
          <p:cNvPr id="25" name="Text 22"/>
          <p:cNvSpPr/>
          <p:nvPr/>
        </p:nvSpPr>
        <p:spPr>
          <a:xfrm>
            <a:off x="5317182" y="1925538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20494" y="1939826"/>
            <a:ext cx="370495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Temporary upload storage and local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620494" y="2145581"/>
            <a:ext cx="348661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persistence should move to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620494" y="2351336"/>
            <a:ext cx="31755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storage/database for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620494" y="2557090"/>
            <a:ext cx="124828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17182" y="2959001"/>
            <a:ext cx="314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620494" y="2973288"/>
            <a:ext cx="330039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adapters can connect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620494" y="3179043"/>
            <a:ext cx="362389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cameras, PLCs, encoders, sensors,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620494" y="3384798"/>
            <a:ext cx="322436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motors, and reject mechanisms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556" y="4464732"/>
            <a:ext cx="7862887" cy="319088"/>
          </a:xfrm>
          <a:prstGeom prst="rect">
            <a:avLst/>
          </a:prstGeom>
          <a:ln/>
        </p:spPr>
      </p:sp>
      <p:sp>
        <p:nvSpPr>
          <p:cNvPr id="35" name="Text 32"/>
          <p:cNvSpPr/>
          <p:nvPr/>
        </p:nvSpPr>
        <p:spPr>
          <a:xfrm>
            <a:off x="640035" y="4546922"/>
            <a:ext cx="52710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92A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40" dirty="0"/>
          </a:p>
        </p:txBody>
      </p:sp>
      <p:sp>
        <p:nvSpPr>
          <p:cNvPr id="36" name="Text 33"/>
          <p:cNvSpPr/>
          <p:nvPr/>
        </p:nvSpPr>
        <p:spPr>
          <a:xfrm>
            <a:off x="640035" y="4669557"/>
            <a:ext cx="239086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650" spc="26" kern="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PRODUCTION-STYLE PROTOTYPE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608415" y="4676477"/>
            <a:ext cx="252136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spc="24" kern="0" dirty="0">
                <a:solidFill>
                  <a:srgbClr val="98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CONVEYOR VISION MONITOR / END OF BRIEF</a:t>
            </a:r>
            <a:endParaRPr lang="en-US" sz="61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705" y="1935175"/>
            <a:ext cx="4310062" cy="714375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705" y="2762399"/>
            <a:ext cx="4310062" cy="509587"/>
          </a:xfrm>
          <a:prstGeom prst="rect">
            <a:avLst/>
          </a:prstGeom>
        </p:spPr>
      </p:pic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7517" y="1935659"/>
            <a:ext cx="3186113" cy="919162"/>
          </a:xfrm>
          <a:prstGeom prst="rect">
            <a:avLst/>
          </a:prstGeom>
        </p:spPr>
      </p:pic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556" y="4464732"/>
            <a:ext cx="7862887" cy="319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2026-09-07T10:12:52Z</dcterms:created>
  <dcterms:modified xsi:type="dcterms:W3CDTF">2026-09-07T10:12:52Z</dcterms:modified>
</cp:coreProperties>
</file>